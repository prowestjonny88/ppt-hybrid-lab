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master_adapter_workspa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master_adapter_workspa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xq:how-it-works:node_camera:shape"/>
          <p:cNvSpPr/>
          <p:nvPr/>
        </p:nvSpPr>
        <p:spPr>
          <a:xfrm>
            <a:off x="742474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  <p:txBody>
          <a:bodyPr/>
          <a:p/>
        </p:txBody>
      </p:sp>
      <p:sp>
        <p:nvSpPr>
          <p:cNvPr id="3" name="oxq:how-it-works:node_camera:label"/>
          <p:cNvSpPr txBox="1"/>
          <p:nvPr/>
        </p:nvSpPr>
        <p:spPr>
          <a:xfrm>
            <a:off x="909798" y="3371614"/>
            <a:ext cx="8635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Camera feed</a:t>
            </a:r>
          </a:p>
        </p:txBody>
      </p:sp>
      <p:sp>
        <p:nvSpPr>
          <p:cNvPr id="4" name="oxq:how-it-works:node_queue_estimator:shape"/>
          <p:cNvSpPr/>
          <p:nvPr/>
        </p:nvSpPr>
        <p:spPr>
          <a:xfrm>
            <a:off x="2612708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  <p:txBody>
          <a:bodyPr/>
          <a:p/>
        </p:txBody>
      </p:sp>
      <p:sp>
        <p:nvSpPr>
          <p:cNvPr id="5" name="oxq:how-it-works:node_queue_estimator:label"/>
          <p:cNvSpPr txBox="1"/>
          <p:nvPr/>
        </p:nvSpPr>
        <p:spPr>
          <a:xfrm>
            <a:off x="2780050" y="3371614"/>
            <a:ext cx="90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Queue length</a:t>
            </a:r>
          </a:p>
        </p:txBody>
      </p:sp>
      <p:sp>
        <p:nvSpPr>
          <p:cNvPr id="6" name="oxq:how-it-works:node_wait_predictor:shape"/>
          <p:cNvSpPr/>
          <p:nvPr/>
        </p:nvSpPr>
        <p:spPr>
          <a:xfrm>
            <a:off x="4483036" y="2828258"/>
            <a:ext cx="1438656" cy="1152144"/>
          </a:xfrm>
          <a:prstGeom prst="roundRect">
            <a:avLst>
              <a:gd name="adj" fmla="val 9921"/>
            </a:avLst>
          </a:prstGeom>
          <a:solidFill>
            <a:srgbClr val="2563EB"/>
          </a:solidFill>
          <a:ln w="14288">
            <a:solidFill>
              <a:srgbClr val="2563EB"/>
            </a:solidFill>
          </a:ln>
        </p:spPr>
        <p:txBody>
          <a:bodyPr/>
          <a:p/>
        </p:txBody>
      </p:sp>
      <p:sp>
        <p:nvSpPr>
          <p:cNvPr id="7" name="oxq:how-it-works:node_wait_predictor:label"/>
          <p:cNvSpPr txBox="1"/>
          <p:nvPr/>
        </p:nvSpPr>
        <p:spPr>
          <a:xfrm>
            <a:off x="4650303" y="3371614"/>
            <a:ext cx="11208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Wait prediction</a:t>
            </a:r>
          </a:p>
        </p:txBody>
      </p:sp>
      <p:sp>
        <p:nvSpPr>
          <p:cNvPr id="8" name="oxq:how-it-works:node_decision:shape"/>
          <p:cNvSpPr/>
          <p:nvPr/>
        </p:nvSpPr>
        <p:spPr>
          <a:xfrm>
            <a:off x="6353270" y="2636234"/>
            <a:ext cx="1438656" cy="1536192"/>
          </a:xfrm>
          <a:prstGeom prst="roundRect">
            <a:avLst>
              <a:gd name="adj" fmla="val 7945"/>
            </a:avLst>
          </a:prstGeom>
          <a:solidFill>
            <a:srgbClr val="FFFFFF"/>
          </a:solidFill>
          <a:ln w="14288">
            <a:solidFill>
              <a:srgbClr val="D1D5DB"/>
            </a:solidFill>
          </a:ln>
        </p:spPr>
        <p:txBody>
          <a:bodyPr/>
          <a:p/>
        </p:txBody>
      </p:sp>
      <p:sp>
        <p:nvSpPr>
          <p:cNvPr id="9" name="oxq:how-it-works:node_decision:label1"/>
          <p:cNvSpPr txBox="1"/>
          <p:nvPr/>
        </p:nvSpPr>
        <p:spPr>
          <a:xfrm>
            <a:off x="6492164" y="3191527"/>
            <a:ext cx="10309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Go now / choose</a:t>
            </a:r>
          </a:p>
        </p:txBody>
      </p:sp>
      <p:sp>
        <p:nvSpPr>
          <p:cNvPr id="10" name="oxq:how-it-works:node_decision:label2"/>
          <p:cNvSpPr txBox="1"/>
          <p:nvPr/>
        </p:nvSpPr>
        <p:spPr>
          <a:xfrm>
            <a:off x="6492164" y="3498765"/>
            <a:ext cx="117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another cafeteria</a:t>
            </a:r>
          </a:p>
        </p:txBody>
      </p:sp>
      <p:sp>
        <p:nvSpPr>
          <p:cNvPr id="11" name="oxq:how-it-works:connector_camera_queue:line"/>
          <p:cNvSpPr/>
          <p:nvPr/>
        </p:nvSpPr>
        <p:spPr>
          <a:xfrm>
            <a:off x="2181130" y="3404330"/>
            <a:ext cx="355378" cy="9525"/>
          </a:xfrm>
          <a:custGeom>
            <a:avLst/>
            <a:gdLst/>
            <a:ahLst/>
            <a:cxnLst/>
            <a:rect l="l" t="t" r="r" b="b"/>
            <a:pathLst>
              <a:path w="355378" h="9525">
                <a:moveTo>
                  <a:pt x="0" y="0"/>
                </a:moveTo>
                <a:lnTo>
                  <a:pt x="355378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2" name="oxq:how-it-works:connector_camera_queue:arrow"/>
          <p:cNvSpPr/>
          <p:nvPr/>
        </p:nvSpPr>
        <p:spPr>
          <a:xfrm>
            <a:off x="2526982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p/>
        </p:txBody>
      </p:sp>
      <p:sp>
        <p:nvSpPr>
          <p:cNvPr id="13" name="oxq:how-it-works:connector_queue_prediction:line"/>
          <p:cNvSpPr/>
          <p:nvPr/>
        </p:nvSpPr>
        <p:spPr>
          <a:xfrm>
            <a:off x="4051363" y="3404330"/>
            <a:ext cx="355473" cy="9525"/>
          </a:xfrm>
          <a:custGeom>
            <a:avLst/>
            <a:gdLst/>
            <a:ahLst/>
            <a:cxnLst/>
            <a:rect l="l" t="t" r="r" b="b"/>
            <a:pathLst>
              <a:path w="355473" h="9525">
                <a:moveTo>
                  <a:pt x="0" y="0"/>
                </a:moveTo>
                <a:lnTo>
                  <a:pt x="355473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4" name="oxq:how-it-works:connector_queue_prediction:arrow"/>
          <p:cNvSpPr/>
          <p:nvPr/>
        </p:nvSpPr>
        <p:spPr>
          <a:xfrm>
            <a:off x="4397312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p/>
        </p:txBody>
      </p:sp>
      <p:sp>
        <p:nvSpPr>
          <p:cNvPr id="15" name="oxq:how-it-works:connector_prediction_decision:line"/>
          <p:cNvSpPr/>
          <p:nvPr/>
        </p:nvSpPr>
        <p:spPr>
          <a:xfrm>
            <a:off x="5921692" y="3404330"/>
            <a:ext cx="355378" cy="9525"/>
          </a:xfrm>
          <a:custGeom>
            <a:avLst/>
            <a:gdLst/>
            <a:ahLst/>
            <a:cxnLst/>
            <a:rect l="l" t="t" r="r" b="b"/>
            <a:pathLst>
              <a:path w="355378" h="9525">
                <a:moveTo>
                  <a:pt x="0" y="0"/>
                </a:moveTo>
                <a:lnTo>
                  <a:pt x="355378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  <p:txBody>
          <a:bodyPr/>
          <a:p/>
        </p:txBody>
      </p:sp>
      <p:sp>
        <p:nvSpPr>
          <p:cNvPr id="16" name="oxq:how-it-works:connector_prediction_decision:arrow"/>
          <p:cNvSpPr/>
          <p:nvPr/>
        </p:nvSpPr>
        <p:spPr>
          <a:xfrm>
            <a:off x="6267545" y="334718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p/>
        </p:txBody>
      </p:sp>
      <p:sp>
        <p:nvSpPr>
          <p:cNvPr id="17" name="oxq:how-it-works:title:title"/>
          <p:cNvSpPr txBox="1"/>
          <p:nvPr/>
        </p:nvSpPr>
        <p:spPr>
          <a:xfrm>
            <a:off x="670559" y="377190"/>
            <a:ext cx="10850879" cy="570585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From camera feed to a wait-time decision in three steps</a:t>
            </a:r>
          </a:p>
        </p:txBody>
      </p:sp>
      <p:sp>
        <p:nvSpPr>
          <p:cNvPr id="18" name="oxq:how-it-works:subtitle:subtitle"/>
          <p:cNvSpPr txBox="1"/>
          <p:nvPr/>
        </p:nvSpPr>
        <p:spPr>
          <a:xfrm>
            <a:off x="670559" y="1013612"/>
            <a:ext cx="10850879" cy="351129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Observe the queue → estimate the wait → tell students whether to go now.</a:t>
            </a:r>
          </a:p>
        </p:txBody>
      </p:sp>
      <p:pic>
        <p:nvPicPr>
          <p:cNvPr id="19" name="oxq:how-it-works:screenshot_main:picture" descr="product_ui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9" y="1851660"/>
            <a:ext cx="3108959" cy="3566160"/>
          </a:xfrm>
          <a:prstGeom prst="rect">
            <a:avLst/>
          </a:prstGeom>
        </p:spPr>
      </p:pic>
      <p:sp>
        <p:nvSpPr>
          <p:cNvPr id="20" name="oxq:how-it-works:source_note:source"/>
          <p:cNvSpPr txBox="1"/>
          <p:nvPr/>
        </p:nvSpPr>
        <p:spPr>
          <a:xfrm>
            <a:off x="670559" y="6240780"/>
            <a:ext cx="8778239" cy="24003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Source: QueueZero controlled benchmark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xq:problem-hook:title:title"/>
          <p:cNvSpPr txBox="1"/>
          <p:nvPr/>
        </p:nvSpPr>
        <p:spPr>
          <a:xfrm>
            <a:off x="670559" y="377190"/>
            <a:ext cx="10850879" cy="6419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Lunch queues are stealing up to half an hour</a:t>
            </a:r>
          </a:p>
        </p:txBody>
      </p:sp>
      <p:sp>
        <p:nvSpPr>
          <p:cNvPr id="3" name="oxq:problem-hook:subtitle:subtitle"/>
          <p:cNvSpPr txBox="1"/>
          <p:nvPr/>
        </p:nvSpPr>
        <p:spPr>
          <a:xfrm>
            <a:off x="670559" y="1093165"/>
            <a:ext cx="10850879" cy="3950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Peak-meal waits reach 15–30 min — a repeated pain students cannot plan around.</a:t>
            </a:r>
          </a:p>
        </p:txBody>
      </p:sp>
      <p:sp>
        <p:nvSpPr>
          <p:cNvPr id="4" name="oxq:problem-hook:metric_wait:card"/>
          <p:cNvSpPr/>
          <p:nvPr/>
        </p:nvSpPr>
        <p:spPr>
          <a:xfrm>
            <a:off x="670559" y="2051913"/>
            <a:ext cx="3011423" cy="11850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xq:problem-hook:metric_wait:value"/>
          <p:cNvSpPr txBox="1"/>
          <p:nvPr/>
        </p:nvSpPr>
        <p:spPr>
          <a:xfrm>
            <a:off x="851244" y="2170419"/>
            <a:ext cx="2650052" cy="568829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15–30 min</a:t>
            </a:r>
          </a:p>
        </p:txBody>
      </p:sp>
      <p:sp>
        <p:nvSpPr>
          <p:cNvPr id="6" name="oxq:problem-hook:metric_wait:label"/>
          <p:cNvSpPr txBox="1"/>
          <p:nvPr/>
        </p:nvSpPr>
        <p:spPr>
          <a:xfrm>
            <a:off x="851244" y="2786652"/>
            <a:ext cx="2650052" cy="260713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peak wait</a:t>
            </a:r>
          </a:p>
        </p:txBody>
      </p:sp>
      <p:sp>
        <p:nvSpPr>
          <p:cNvPr id="7" name="oxq:problem-hook:pain_annotation:annotation"/>
          <p:cNvSpPr txBox="1"/>
          <p:nvPr/>
        </p:nvSpPr>
        <p:spPr>
          <a:xfrm>
            <a:off x="670559" y="3566160"/>
            <a:ext cx="4262322" cy="1250899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The problem is not just queue length; it is uncertainty about whether a cafeteria is worth walking to right now.</a:t>
            </a:r>
          </a:p>
        </p:txBody>
      </p:sp>
      <p:pic>
        <p:nvPicPr>
          <p:cNvPr id="8" name="oxq:problem-hook:hero_visual_slot:picture" descr="problem_hero.jpg"/>
          <p:cNvPicPr>
            <a:picLocks noChangeAspect="1"/>
          </p:cNvPicPr>
          <p:nvPr/>
        </p:nvPicPr>
        <p:blipFill>
          <a:blip r:embed="rId2"/>
          <a:srcRect l="2815" r="2815"/>
          <a:stretch>
            <a:fillRect/>
          </a:stretch>
        </p:blipFill>
        <p:spPr>
          <a:xfrm>
            <a:off x="5974079" y="1508760"/>
            <a:ext cx="5547359" cy="4389120"/>
          </a:xfrm>
          <a:prstGeom prst="rect">
            <a:avLst/>
          </a:prstGeom>
        </p:spPr>
      </p:pic>
      <p:sp>
        <p:nvSpPr>
          <p:cNvPr id="9" name="oxq:problem-hook:source_note:source"/>
          <p:cNvSpPr txBox="1"/>
          <p:nvPr/>
        </p:nvSpPr>
        <p:spPr>
          <a:xfrm>
            <a:off x="670559" y="6240780"/>
            <a:ext cx="8778239" cy="24003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Source: QueueZero controlled benchmark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xq:validation-traction:title:title"/>
          <p:cNvSpPr txBox="1"/>
          <p:nvPr/>
        </p:nvSpPr>
        <p:spPr>
          <a:xfrm>
            <a:off x="670559" y="377190"/>
            <a:ext cx="10850879" cy="4800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Early testing clears the bar for a semester pilot</a:t>
            </a:r>
          </a:p>
        </p:txBody>
      </p:sp>
      <p:sp>
        <p:nvSpPr>
          <p:cNvPr id="3" name="oxq:validation-traction:subtitle:subtitle"/>
          <p:cNvSpPr txBox="1"/>
          <p:nvPr/>
        </p:nvSpPr>
        <p:spPr>
          <a:xfrm>
            <a:off x="670559" y="914857"/>
            <a:ext cx="10850879" cy="3264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</a:rPr>
              <a:t>Technical accuracy and user intent are promising; retention and paid adoption remain unproven.</a:t>
            </a:r>
          </a:p>
        </p:txBody>
      </p:sp>
      <p:sp>
        <p:nvSpPr>
          <p:cNvPr id="4" name="oxq:validation-traction:metric_mae:card"/>
          <p:cNvSpPr/>
          <p:nvPr/>
        </p:nvSpPr>
        <p:spPr>
          <a:xfrm>
            <a:off x="887576" y="1728216"/>
            <a:ext cx="4882895" cy="1471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xq:validation-traction:metric_mae:value"/>
          <p:cNvSpPr txBox="1"/>
          <p:nvPr/>
        </p:nvSpPr>
        <p:spPr>
          <a:xfrm>
            <a:off x="1180550" y="1875320"/>
            <a:ext cx="4296948" cy="706099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3.8 min</a:t>
            </a:r>
          </a:p>
        </p:txBody>
      </p:sp>
      <p:sp>
        <p:nvSpPr>
          <p:cNvPr id="6" name="oxq:validation-traction:metric_mae:label"/>
          <p:cNvSpPr txBox="1"/>
          <p:nvPr/>
        </p:nvSpPr>
        <p:spPr>
          <a:xfrm>
            <a:off x="1180550" y="2640261"/>
            <a:ext cx="4296948" cy="323629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prediction MAE</a:t>
            </a:r>
          </a:p>
        </p:txBody>
      </p:sp>
      <p:sp>
        <p:nvSpPr>
          <p:cNvPr id="7" name="oxq:validation-traction:metric_weekly_intent:card"/>
          <p:cNvSpPr/>
          <p:nvPr/>
        </p:nvSpPr>
        <p:spPr>
          <a:xfrm>
            <a:off x="6421524" y="1728216"/>
            <a:ext cx="4882895" cy="14710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xq:validation-traction:metric_weekly_intent:value"/>
          <p:cNvSpPr txBox="1"/>
          <p:nvPr/>
        </p:nvSpPr>
        <p:spPr>
          <a:xfrm>
            <a:off x="6714498" y="1875320"/>
            <a:ext cx="4296948" cy="706099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76%</a:t>
            </a:r>
          </a:p>
        </p:txBody>
      </p:sp>
      <p:sp>
        <p:nvSpPr>
          <p:cNvPr id="9" name="oxq:validation-traction:metric_weekly_intent:label"/>
          <p:cNvSpPr txBox="1"/>
          <p:nvPr/>
        </p:nvSpPr>
        <p:spPr>
          <a:xfrm>
            <a:off x="6714498" y="2640261"/>
            <a:ext cx="4296948" cy="323629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would use weekly</a:t>
            </a:r>
          </a:p>
        </p:txBody>
      </p:sp>
      <p:sp>
        <p:nvSpPr>
          <p:cNvPr id="10" name="oxq:validation-traction:metric_students:card"/>
          <p:cNvSpPr/>
          <p:nvPr/>
        </p:nvSpPr>
        <p:spPr>
          <a:xfrm>
            <a:off x="887576" y="3576447"/>
            <a:ext cx="4882895" cy="11692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xq:validation-traction:metric_students:value"/>
          <p:cNvSpPr txBox="1"/>
          <p:nvPr/>
        </p:nvSpPr>
        <p:spPr>
          <a:xfrm>
            <a:off x="1180550" y="3693375"/>
            <a:ext cx="4296948" cy="56125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42</a:t>
            </a:r>
          </a:p>
        </p:txBody>
      </p:sp>
      <p:sp>
        <p:nvSpPr>
          <p:cNvPr id="12" name="oxq:validation-traction:metric_students:label"/>
          <p:cNvSpPr txBox="1"/>
          <p:nvPr/>
        </p:nvSpPr>
        <p:spPr>
          <a:xfrm>
            <a:off x="1180550" y="4301406"/>
            <a:ext cx="4296948" cy="257243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students tested</a:t>
            </a:r>
          </a:p>
        </p:txBody>
      </p:sp>
      <p:sp>
        <p:nvSpPr>
          <p:cNvPr id="13" name="oxq:validation-traction:metric_cafeterias:card"/>
          <p:cNvSpPr/>
          <p:nvPr/>
        </p:nvSpPr>
        <p:spPr>
          <a:xfrm>
            <a:off x="6421524" y="3576447"/>
            <a:ext cx="4882895" cy="11692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xq:validation-traction:metric_cafeterias:value"/>
          <p:cNvSpPr txBox="1"/>
          <p:nvPr/>
        </p:nvSpPr>
        <p:spPr>
          <a:xfrm>
            <a:off x="6714498" y="3693375"/>
            <a:ext cx="4296948" cy="56125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oxq:validation-traction:metric_cafeterias:label"/>
          <p:cNvSpPr txBox="1"/>
          <p:nvPr/>
        </p:nvSpPr>
        <p:spPr>
          <a:xfrm>
            <a:off x="6714498" y="4301406"/>
            <a:ext cx="4296948" cy="257243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</a:rPr>
              <a:t>cafeterias</a:t>
            </a:r>
          </a:p>
        </p:txBody>
      </p:sp>
      <p:sp>
        <p:nvSpPr>
          <p:cNvPr id="16" name="oxq:validation-traction:pilot_gate:gate"/>
          <p:cNvSpPr/>
          <p:nvPr/>
        </p:nvSpPr>
        <p:spPr>
          <a:xfrm>
            <a:off x="2682239" y="5417820"/>
            <a:ext cx="6827519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xq:validation-traction:pilot_gate:label"/>
          <p:cNvSpPr txBox="1"/>
          <p:nvPr/>
        </p:nvSpPr>
        <p:spPr>
          <a:xfrm>
            <a:off x="2955339" y="5520690"/>
            <a:ext cx="6281317" cy="480059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</a:rPr>
              <a:t>Next proof: one-university semester pilot</a:t>
            </a:r>
          </a:p>
        </p:txBody>
      </p:sp>
      <p:sp>
        <p:nvSpPr>
          <p:cNvPr id="18" name="oxq:validation-traction:source_note:source"/>
          <p:cNvSpPr txBox="1"/>
          <p:nvPr/>
        </p:nvSpPr>
        <p:spPr>
          <a:xfrm>
            <a:off x="670559" y="6240780"/>
            <a:ext cx="8778239" cy="24003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Source: QueueZero controlled benchmark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_master_adapter_workspace">
  <a:themeElements>
    <a:clrScheme name="ppt_master_adapter_workspa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_master_adapter_workspa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master_adapter_workspa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2026-08-23T12:45:09Z</dcterms:created>
  <dcterms:modified xsi:type="dcterms:W3CDTF">2026-08-23T12:45:09Z</dcterms:modified>
  <cp:category/>
  <cp:contentStatus/>
</cp:coreProperties>
</file>